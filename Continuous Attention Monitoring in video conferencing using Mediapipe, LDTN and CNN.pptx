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5"/>
  </p:notesMasterIdLst>
  <p:sldIdLst>
    <p:sldId id="266" r:id="rId2"/>
    <p:sldId id="257" r:id="rId3"/>
    <p:sldId id="258" r:id="rId4"/>
    <p:sldId id="260" r:id="rId5"/>
    <p:sldId id="261" r:id="rId6"/>
    <p:sldId id="268" r:id="rId7"/>
    <p:sldId id="269" r:id="rId8"/>
    <p:sldId id="262" r:id="rId9"/>
    <p:sldId id="263" r:id="rId10"/>
    <p:sldId id="264" r:id="rId11"/>
    <p:sldId id="267" r:id="rId12"/>
    <p:sldId id="265" r:id="rId13"/>
    <p:sldId id="272"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81" d="100"/>
          <a:sy n="81" d="100"/>
        </p:scale>
        <p:origin x="1498"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7/31/2026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 name="Google Shape;63;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 name="Google Shape;64;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FAE2D52-A578-49DE-A2FD-AAC466B34CC6}" type="datetime1">
              <a:rPr lang="en-US" smtClean="0"/>
              <a:t>7/31/2026</a:t>
            </a:fld>
            <a:endParaRPr lang="en-US"/>
          </a:p>
        </p:txBody>
      </p:sp>
      <p:sp>
        <p:nvSpPr>
          <p:cNvPr id="5" name="Footer Placeholder 4"/>
          <p:cNvSpPr>
            <a:spLocks noGrp="1"/>
          </p:cNvSpPr>
          <p:nvPr>
            <p:ph type="ftr" sz="quarter" idx="11"/>
          </p:nvPr>
        </p:nvSpPr>
        <p:spPr/>
        <p:txBody>
          <a:bodyPr/>
          <a:lstStyle/>
          <a:p>
            <a:r>
              <a:rPr lang="en-US"/>
              <a:t>Continuous attention monitoring in vc using media pipe and CNN</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4DA121-150E-476F-9551-E0D70320E672}" type="datetime1">
              <a:rPr lang="en-US" smtClean="0"/>
              <a:t>7/31/2026</a:t>
            </a:fld>
            <a:endParaRPr lang="en-US"/>
          </a:p>
        </p:txBody>
      </p:sp>
      <p:sp>
        <p:nvSpPr>
          <p:cNvPr id="5" name="Footer Placeholder 4"/>
          <p:cNvSpPr>
            <a:spLocks noGrp="1"/>
          </p:cNvSpPr>
          <p:nvPr>
            <p:ph type="ftr" sz="quarter" idx="11"/>
          </p:nvPr>
        </p:nvSpPr>
        <p:spPr/>
        <p:txBody>
          <a:bodyPr/>
          <a:lstStyle/>
          <a:p>
            <a:r>
              <a:rPr lang="en-US"/>
              <a:t>Continuous attention monitoring in vc using media pipe and CNN</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B4C05E-2B0C-4D68-9ABB-E6B97AEBE628}" type="datetime1">
              <a:rPr lang="en-US" smtClean="0"/>
              <a:t>7/31/2026</a:t>
            </a:fld>
            <a:endParaRPr lang="en-US"/>
          </a:p>
        </p:txBody>
      </p:sp>
      <p:sp>
        <p:nvSpPr>
          <p:cNvPr id="5" name="Footer Placeholder 4"/>
          <p:cNvSpPr>
            <a:spLocks noGrp="1"/>
          </p:cNvSpPr>
          <p:nvPr>
            <p:ph type="ftr" sz="quarter" idx="11"/>
          </p:nvPr>
        </p:nvSpPr>
        <p:spPr/>
        <p:txBody>
          <a:bodyPr/>
          <a:lstStyle/>
          <a:p>
            <a:r>
              <a:rPr lang="en-US"/>
              <a:t>Continuous attention monitoring in vc using media pipe and CNN</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EDD6DE2-B9C4-47CA-B8A8-6CD08798C58E}" type="datetime1">
              <a:rPr lang="en-US" smtClean="0"/>
              <a:t>7/31/2026</a:t>
            </a:fld>
            <a:endParaRPr lang="en-US"/>
          </a:p>
        </p:txBody>
      </p:sp>
      <p:sp>
        <p:nvSpPr>
          <p:cNvPr id="6" name="Footer Placeholder 5"/>
          <p:cNvSpPr>
            <a:spLocks noGrp="1"/>
          </p:cNvSpPr>
          <p:nvPr>
            <p:ph type="ftr" sz="quarter" idx="11"/>
          </p:nvPr>
        </p:nvSpPr>
        <p:spPr/>
        <p:txBody>
          <a:bodyPr/>
          <a:lstStyle/>
          <a:p>
            <a:r>
              <a:rPr lang="en-US"/>
              <a:t>Continuous attention monitoring in vc using media pipe and CNN</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94FB93F-CD95-4953-88FE-A7ECF94A205C}" type="datetime1">
              <a:rPr lang="en-US" smtClean="0"/>
              <a:t>7/31/2026</a:t>
            </a:fld>
            <a:endParaRPr lang="en-US"/>
          </a:p>
        </p:txBody>
      </p:sp>
      <p:sp>
        <p:nvSpPr>
          <p:cNvPr id="8" name="Footer Placeholder 7"/>
          <p:cNvSpPr>
            <a:spLocks noGrp="1"/>
          </p:cNvSpPr>
          <p:nvPr>
            <p:ph type="ftr" sz="quarter" idx="11"/>
          </p:nvPr>
        </p:nvSpPr>
        <p:spPr/>
        <p:txBody>
          <a:bodyPr/>
          <a:lstStyle/>
          <a:p>
            <a:r>
              <a:rPr lang="en-US"/>
              <a:t>Continuous attention monitoring in vc using media pipe and CNN</a:t>
            </a:r>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29E489D-8512-4D91-A78A-D4DF28F27003}" type="datetime1">
              <a:rPr lang="en-US" smtClean="0"/>
              <a:t>7/31/2026</a:t>
            </a:fld>
            <a:endParaRPr lang="en-US"/>
          </a:p>
        </p:txBody>
      </p:sp>
      <p:sp>
        <p:nvSpPr>
          <p:cNvPr id="4" name="Footer Placeholder 3"/>
          <p:cNvSpPr>
            <a:spLocks noGrp="1"/>
          </p:cNvSpPr>
          <p:nvPr>
            <p:ph type="ftr" sz="quarter" idx="11"/>
          </p:nvPr>
        </p:nvSpPr>
        <p:spPr/>
        <p:txBody>
          <a:bodyPr/>
          <a:lstStyle/>
          <a:p>
            <a:r>
              <a:rPr lang="en-US"/>
              <a:t>Continuous attention monitoring in vc using media pipe and CNN</a:t>
            </a:r>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BCDBCCA-B4D7-4FCB-B0D5-B2E2D17BE6A3}" type="datetime1">
              <a:rPr lang="en-US" smtClean="0"/>
              <a:t>7/31/2026</a:t>
            </a:fld>
            <a:endParaRPr lang="en-US"/>
          </a:p>
        </p:txBody>
      </p:sp>
      <p:sp>
        <p:nvSpPr>
          <p:cNvPr id="3" name="Footer Placeholder 2"/>
          <p:cNvSpPr>
            <a:spLocks noGrp="1"/>
          </p:cNvSpPr>
          <p:nvPr>
            <p:ph type="ftr" sz="quarter" idx="11"/>
          </p:nvPr>
        </p:nvSpPr>
        <p:spPr/>
        <p:txBody>
          <a:bodyPr/>
          <a:lstStyle/>
          <a:p>
            <a:r>
              <a:rPr lang="en-US"/>
              <a:t>Continuous attention monitoring in vc using media pipe and CNN</a:t>
            </a:r>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2539ED-62D0-459C-AA23-657355BF0549}" type="datetime1">
              <a:rPr lang="en-US" smtClean="0"/>
              <a:t>7/31/2026</a:t>
            </a:fld>
            <a:endParaRPr lang="en-US"/>
          </a:p>
        </p:txBody>
      </p:sp>
      <p:sp>
        <p:nvSpPr>
          <p:cNvPr id="6" name="Footer Placeholder 5"/>
          <p:cNvSpPr>
            <a:spLocks noGrp="1"/>
          </p:cNvSpPr>
          <p:nvPr>
            <p:ph type="ftr" sz="quarter" idx="11"/>
          </p:nvPr>
        </p:nvSpPr>
        <p:spPr/>
        <p:txBody>
          <a:bodyPr/>
          <a:lstStyle/>
          <a:p>
            <a:r>
              <a:rPr lang="en-US"/>
              <a:t>Continuous attention monitoring in vc using media pipe and CNN</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C69D841-A254-471D-BABF-11E3A924B336}" type="datetime1">
              <a:rPr lang="en-US" smtClean="0"/>
              <a:t>7/31/2026</a:t>
            </a:fld>
            <a:endParaRPr lang="en-US"/>
          </a:p>
        </p:txBody>
      </p:sp>
      <p:sp>
        <p:nvSpPr>
          <p:cNvPr id="6" name="Footer Placeholder 5"/>
          <p:cNvSpPr>
            <a:spLocks noGrp="1"/>
          </p:cNvSpPr>
          <p:nvPr>
            <p:ph type="ftr" sz="quarter" idx="11"/>
          </p:nvPr>
        </p:nvSpPr>
        <p:spPr/>
        <p:txBody>
          <a:bodyPr/>
          <a:lstStyle/>
          <a:p>
            <a:r>
              <a:rPr lang="en-US"/>
              <a:t>Continuous attention monitoring in vc using media pipe and CNN</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7FF8638-B5AF-450F-9497-B9011407B7B6}" type="datetime1">
              <a:rPr lang="en-US" smtClean="0"/>
              <a:t>7/31/2026</a:t>
            </a:fld>
            <a:endParaRPr lang="en-US"/>
          </a:p>
        </p:txBody>
      </p:sp>
      <p:sp>
        <p:nvSpPr>
          <p:cNvPr id="5" name="Footer Placeholder 4"/>
          <p:cNvSpPr>
            <a:spLocks noGrp="1"/>
          </p:cNvSpPr>
          <p:nvPr>
            <p:ph type="ftr" sz="quarter" idx="11"/>
          </p:nvPr>
        </p:nvSpPr>
        <p:spPr/>
        <p:txBody>
          <a:bodyPr/>
          <a:lstStyle/>
          <a:p>
            <a:r>
              <a:rPr lang="en-US"/>
              <a:t>Continuous attention monitoring in vc using media pipe and CNN</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F1EC092-CCA4-4A1A-9E09-F09BD9A8BF68}" type="datetime1">
              <a:rPr lang="en-US" smtClean="0"/>
              <a:t>7/31/2026</a:t>
            </a:fld>
            <a:endParaRPr lang="en-US"/>
          </a:p>
        </p:txBody>
      </p:sp>
      <p:sp>
        <p:nvSpPr>
          <p:cNvPr id="5" name="Footer Placeholder 4"/>
          <p:cNvSpPr>
            <a:spLocks noGrp="1"/>
          </p:cNvSpPr>
          <p:nvPr>
            <p:ph type="ftr" sz="quarter" idx="11"/>
          </p:nvPr>
        </p:nvSpPr>
        <p:spPr/>
        <p:txBody>
          <a:bodyPr/>
          <a:lstStyle/>
          <a:p>
            <a:r>
              <a:rPr lang="en-US"/>
              <a:t>Continuous attention monitoring in vc using media pipe and CNN</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7D1B97-AEBF-48B3-8681-6D0009719D06}" type="datetime1">
              <a:rPr lang="en-US" smtClean="0"/>
              <a:t>7/31/2026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Continuous attention monitoring in vc using media pipe and CNN</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4"/>
          <p:cNvSpPr txBox="1">
            <a:spLocks noGrp="1"/>
          </p:cNvSpPr>
          <p:nvPr>
            <p:ph type="body" idx="2"/>
          </p:nvPr>
        </p:nvSpPr>
        <p:spPr>
          <a:xfrm>
            <a:off x="461913" y="2186681"/>
            <a:ext cx="8219850" cy="1702125"/>
          </a:xfrm>
          <a:prstGeom prst="rect">
            <a:avLst/>
          </a:prstGeom>
          <a:noFill/>
          <a:ln>
            <a:noFill/>
          </a:ln>
        </p:spPr>
        <p:txBody>
          <a:bodyPr spcFirstLastPara="1" wrap="square" lIns="68568" tIns="34275" rIns="68568" bIns="34275" anchor="t" anchorCtr="0">
            <a:normAutofit/>
          </a:bodyPr>
          <a:lstStyle/>
          <a:p>
            <a:pPr marL="0" lvl="0" indent="0" algn="ctr" rtl="0">
              <a:lnSpc>
                <a:spcPct val="150000"/>
              </a:lnSpc>
              <a:spcBef>
                <a:spcPts val="0"/>
              </a:spcBef>
              <a:spcAft>
                <a:spcPts val="0"/>
              </a:spcAft>
              <a:buClr>
                <a:srgbClr val="000000"/>
              </a:buClr>
              <a:buSzPct val="100000"/>
              <a:buNone/>
            </a:pPr>
            <a:r>
              <a:rPr lang="en-US" sz="24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Project Title: </a:t>
            </a:r>
            <a:endParaRPr sz="24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a:lnSpc>
                <a:spcPct val="150000"/>
              </a:lnSpc>
              <a:spcBef>
                <a:spcPts val="0"/>
              </a:spcBef>
              <a:buClr>
                <a:srgbClr val="000000"/>
              </a:buClr>
              <a:buSzPct val="178000"/>
              <a:buNone/>
            </a:pPr>
            <a:r>
              <a:rPr lang="en-US" sz="2200" b="1" i="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Continuous attention monitoring in </a:t>
            </a:r>
            <a:r>
              <a:rPr lang="en-US" sz="2200" b="1" i="1"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vc</a:t>
            </a:r>
            <a:r>
              <a:rPr lang="en-US" sz="2200" b="1" i="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using media pipe and CNN</a:t>
            </a:r>
            <a:endParaRPr sz="2200" b="1" i="1"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67" name="Google Shape;67;p14"/>
          <p:cNvPicPr preferRelativeResize="0"/>
          <p:nvPr/>
        </p:nvPicPr>
        <p:blipFill rotWithShape="1">
          <a:blip r:embed="rId3"/>
          <a:srcRect/>
          <a:stretch>
            <a:fillRect/>
          </a:stretch>
        </p:blipFill>
        <p:spPr>
          <a:xfrm>
            <a:off x="142487" y="381259"/>
            <a:ext cx="1012545" cy="778237"/>
          </a:xfrm>
          <a:prstGeom prst="rect">
            <a:avLst/>
          </a:prstGeom>
          <a:noFill/>
          <a:ln>
            <a:noFill/>
          </a:ln>
        </p:spPr>
      </p:pic>
      <p:sp>
        <p:nvSpPr>
          <p:cNvPr id="68" name="Google Shape;68;p14"/>
          <p:cNvSpPr txBox="1"/>
          <p:nvPr/>
        </p:nvSpPr>
        <p:spPr>
          <a:xfrm>
            <a:off x="7246894" y="4032806"/>
            <a:ext cx="1847700" cy="1798200"/>
          </a:xfrm>
          <a:prstGeom prst="rect">
            <a:avLst/>
          </a:prstGeom>
          <a:noFill/>
          <a:ln>
            <a:noFill/>
          </a:ln>
        </p:spPr>
        <p:txBody>
          <a:bodyPr spcFirstLastPara="1" wrap="square" lIns="68568" tIns="34275" rIns="68568" bIns="34275" anchor="t" anchorCtr="0">
            <a:noAutofit/>
          </a:bodyPr>
          <a:lstStyle/>
          <a:p>
            <a:pPr marL="0" marR="0" lvl="0" indent="0" algn="l" rtl="0">
              <a:lnSpc>
                <a:spcPct val="100000"/>
              </a:lnSpc>
              <a:spcBef>
                <a:spcPts val="0"/>
              </a:spcBef>
              <a:spcAft>
                <a:spcPts val="0"/>
              </a:spcAft>
              <a:buClr>
                <a:srgbClr val="000000"/>
              </a:buClr>
              <a:buSzPts val="2800"/>
              <a:buFont typeface="Arial" panose="020B0604020202020204"/>
              <a:buNone/>
            </a:pPr>
            <a:r>
              <a:rPr lang="en-US"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Team Members: </a:t>
            </a:r>
            <a:endParaRPr sz="750" dirty="0"/>
          </a:p>
          <a:p>
            <a:pPr marL="0" marR="0" lvl="0" indent="0" algn="just" rtl="0">
              <a:lnSpc>
                <a:spcPct val="100000"/>
              </a:lnSpc>
              <a:spcBef>
                <a:spcPts val="0"/>
              </a:spcBef>
              <a:spcAft>
                <a:spcPts val="0"/>
              </a:spcAft>
              <a:buClr>
                <a:schemeClr val="dk1"/>
              </a:buClr>
              <a:buSzPts val="2000"/>
              <a:buFont typeface="Arial" panose="020B0604020202020204"/>
              <a:buNone/>
            </a:pPr>
            <a:r>
              <a:rPr lang="en-IN" altLang="en-US" sz="12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Siddhant Babar </a:t>
            </a:r>
            <a:r>
              <a:rPr lang="en-US" sz="12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(CO31</a:t>
            </a:r>
            <a:r>
              <a:rPr lang="en-IN" altLang="en-US" sz="12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24)     </a:t>
            </a:r>
            <a:r>
              <a:rPr lang="en-IN" altLang="en-US" sz="12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Tejas </a:t>
            </a:r>
            <a:r>
              <a:rPr lang="en-IN" altLang="en-US" sz="1200"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Mandhare</a:t>
            </a:r>
            <a:r>
              <a:rPr lang="en-US" sz="12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(CO3</a:t>
            </a:r>
            <a:r>
              <a:rPr lang="en-IN" altLang="en-US" sz="12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146</a:t>
            </a:r>
            <a:r>
              <a:rPr lang="en-US" sz="12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sz="750" dirty="0"/>
          </a:p>
          <a:p>
            <a:pPr marL="0" marR="0" lvl="0" indent="0" algn="just" rtl="0">
              <a:lnSpc>
                <a:spcPct val="100000"/>
              </a:lnSpc>
              <a:spcBef>
                <a:spcPts val="0"/>
              </a:spcBef>
              <a:spcAft>
                <a:spcPts val="0"/>
              </a:spcAft>
              <a:buClr>
                <a:schemeClr val="dk1"/>
              </a:buClr>
              <a:buSzPts val="2000"/>
              <a:buFont typeface="Arial" panose="020B0604020202020204"/>
              <a:buNone/>
            </a:pPr>
            <a:r>
              <a:rPr lang="en-US" sz="12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IN" altLang="en-US" sz="1200" b="0" i="0" u="none" strike="noStrike" cap="none"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ikhil</a:t>
            </a:r>
            <a:r>
              <a:rPr lang="en-IN" altLang="en-US" sz="12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Madle</a:t>
            </a:r>
            <a:r>
              <a:rPr lang="en-US" sz="12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(CO3</a:t>
            </a:r>
            <a:r>
              <a:rPr lang="en-IN" altLang="en-US" sz="12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147</a:t>
            </a:r>
            <a:r>
              <a:rPr lang="en-US" sz="12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p>
          <a:p>
            <a:pPr marL="0" marR="0" lvl="0" indent="0" algn="just" rtl="0">
              <a:lnSpc>
                <a:spcPct val="100000"/>
              </a:lnSpc>
              <a:spcBef>
                <a:spcPts val="0"/>
              </a:spcBef>
              <a:spcAft>
                <a:spcPts val="0"/>
              </a:spcAft>
              <a:buClr>
                <a:schemeClr val="dk1"/>
              </a:buClr>
              <a:buSzPts val="2000"/>
              <a:buFont typeface="Arial" panose="020B0604020202020204"/>
              <a:buNone/>
            </a:pPr>
            <a:r>
              <a:rPr lang="en-IN" sz="12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Omkar </a:t>
            </a:r>
            <a:r>
              <a:rPr lang="en-IN" sz="1200" b="0" i="0" u="none" strike="noStrike" cap="none"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Takawane</a:t>
            </a:r>
            <a:r>
              <a:rPr lang="en-IN" sz="12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(CO3109)</a:t>
            </a:r>
            <a:endParaRPr sz="12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50000"/>
              </a:lnSpc>
              <a:spcBef>
                <a:spcPts val="0"/>
              </a:spcBef>
              <a:spcAft>
                <a:spcPts val="0"/>
              </a:spcAft>
              <a:buClr>
                <a:schemeClr val="dk1"/>
              </a:buClr>
              <a:buSzPts val="2000"/>
              <a:buFont typeface="Arial" panose="020B0604020202020204"/>
              <a:buNone/>
            </a:pPr>
            <a:endParaRPr sz="12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C0C0C"/>
              </a:buClr>
              <a:buSzPts val="2800"/>
              <a:buFont typeface="Arial" panose="020B0604020202020204"/>
              <a:buNone/>
            </a:pPr>
            <a:r>
              <a:rPr lang="en-US" sz="1725" i="0" u="none" strike="noStrike" cap="none" dirty="0">
                <a:solidFill>
                  <a:srgbClr val="0C0C0C"/>
                </a:solidFill>
                <a:latin typeface="Times New Roman" panose="02020603050405020304"/>
                <a:ea typeface="Times New Roman" panose="02020603050405020304"/>
                <a:cs typeface="Times New Roman" panose="02020603050405020304"/>
                <a:sym typeface="Times New Roman" panose="02020603050405020304"/>
              </a:rPr>
              <a:t>Project Guide:</a:t>
            </a:r>
            <a:endParaRPr sz="675" dirty="0"/>
          </a:p>
          <a:p>
            <a:pPr marL="0" marR="0" lvl="0" indent="0" algn="l" rtl="0">
              <a:lnSpc>
                <a:spcPct val="100000"/>
              </a:lnSpc>
              <a:spcBef>
                <a:spcPts val="0"/>
              </a:spcBef>
              <a:spcAft>
                <a:spcPts val="0"/>
              </a:spcAft>
              <a:buClr>
                <a:schemeClr val="dk1"/>
              </a:buClr>
              <a:buSzPts val="2000"/>
              <a:buFont typeface="Arial" panose="020B0604020202020204"/>
              <a:buNone/>
            </a:pPr>
            <a:r>
              <a:rPr lang="en-IN" altLang="en-US" sz="1500"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Prof.Prasad</a:t>
            </a:r>
            <a:r>
              <a:rPr lang="en-IN" altLang="en-US" sz="15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Bhosale </a:t>
            </a:r>
            <a:endParaRPr lang="en-US" sz="15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50000"/>
              </a:lnSpc>
              <a:spcBef>
                <a:spcPts val="0"/>
              </a:spcBef>
              <a:spcAft>
                <a:spcPts val="0"/>
              </a:spcAft>
              <a:buClr>
                <a:schemeClr val="dk1"/>
              </a:buClr>
              <a:buSzPts val="1900"/>
              <a:buFont typeface="Arial" panose="020B0604020202020204"/>
              <a:buNone/>
            </a:pPr>
            <a:endParaRPr sz="1425" b="1"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spcBef>
                <a:spcPts val="560"/>
              </a:spcBef>
              <a:spcAft>
                <a:spcPts val="0"/>
              </a:spcAft>
              <a:buClr>
                <a:schemeClr val="dk1"/>
              </a:buClr>
              <a:buSzPts val="2800"/>
              <a:buFont typeface="Arial" panose="020B0604020202020204"/>
              <a:buNone/>
            </a:pPr>
            <a:endParaRPr sz="2100" b="0" i="0" u="none" strike="noStrike" cap="none" dirty="0">
              <a:solidFill>
                <a:schemeClr val="dk1"/>
              </a:solidFill>
              <a:latin typeface="Oswald"/>
              <a:ea typeface="Oswald"/>
              <a:cs typeface="Oswald"/>
              <a:sym typeface="Oswald"/>
            </a:endParaRPr>
          </a:p>
        </p:txBody>
      </p:sp>
      <p:sp>
        <p:nvSpPr>
          <p:cNvPr id="69" name="Google Shape;69;p14"/>
          <p:cNvSpPr/>
          <p:nvPr/>
        </p:nvSpPr>
        <p:spPr>
          <a:xfrm>
            <a:off x="1366863" y="375547"/>
            <a:ext cx="7314900" cy="919200"/>
          </a:xfrm>
          <a:prstGeom prst="rect">
            <a:avLst/>
          </a:prstGeom>
          <a:noFill/>
          <a:ln>
            <a:noFill/>
          </a:ln>
        </p:spPr>
        <p:txBody>
          <a:bodyPr spcFirstLastPara="1" wrap="square" lIns="91425" tIns="45693" rIns="91425" bIns="45693" anchor="t" anchorCtr="0">
            <a:noAutofit/>
          </a:bodyPr>
          <a:lstStyle/>
          <a:p>
            <a:pPr marL="0" marR="0" lvl="0" indent="0" algn="ctr" rtl="0">
              <a:spcBef>
                <a:spcPts val="0"/>
              </a:spcBef>
              <a:spcAft>
                <a:spcPts val="0"/>
              </a:spcAft>
              <a:buNone/>
            </a:pPr>
            <a:r>
              <a:rPr lang="en-US" sz="1400" b="1" i="0" u="none" strike="noStrike" cap="none">
                <a:solidFill>
                  <a:srgbClr val="000000"/>
                </a:solidFill>
                <a:latin typeface="Arial" panose="020B0604020202020204"/>
                <a:ea typeface="Arial" panose="020B0604020202020204"/>
                <a:cs typeface="Arial" panose="020B0604020202020204"/>
                <a:sym typeface="Arial" panose="020B0604020202020204"/>
              </a:rPr>
              <a:t>KJ’S EDUCATIONAL INSTITUTES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ctr" rtl="0">
              <a:spcBef>
                <a:spcPts val="0"/>
              </a:spcBef>
              <a:spcAft>
                <a:spcPts val="0"/>
              </a:spcAft>
              <a:buNone/>
            </a:pPr>
            <a:r>
              <a:rPr lang="en-US" sz="1400" b="1" i="0" u="none" strike="noStrike" cap="none">
                <a:solidFill>
                  <a:srgbClr val="000000"/>
                </a:solidFill>
                <a:latin typeface="Arial" panose="020B0604020202020204"/>
                <a:ea typeface="Arial" panose="020B0604020202020204"/>
                <a:cs typeface="Arial" panose="020B0604020202020204"/>
                <a:sym typeface="Arial" panose="020B0604020202020204"/>
              </a:rPr>
              <a:t>TRINITY COLLEGE OF ENGINEERING AND RESEARCH </a:t>
            </a:r>
            <a:endParaRPr sz="14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ctr" rtl="0">
              <a:spcBef>
                <a:spcPts val="0"/>
              </a:spcBef>
              <a:spcAft>
                <a:spcPts val="0"/>
              </a:spcAft>
              <a:buNone/>
            </a:pPr>
            <a:r>
              <a:rPr lang="en-US" sz="1400" b="1" i="0" u="none" strike="noStrike" cap="none">
                <a:solidFill>
                  <a:srgbClr val="C00000"/>
                </a:solidFill>
                <a:latin typeface="Arial" panose="020B0604020202020204"/>
                <a:ea typeface="Arial" panose="020B0604020202020204"/>
                <a:cs typeface="Arial" panose="020B0604020202020204"/>
                <a:sym typeface="Arial" panose="020B0604020202020204"/>
              </a:rPr>
              <a:t>(Accredited by NAAC with A+ Grade Approved by AICTE &amp; Affiliated to SPPU, Pune)</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br>
              <a:rPr lang="en-US" sz="1400" b="0" i="0" u="none" strike="noStrike" cap="none">
                <a:solidFill>
                  <a:srgbClr val="000000"/>
                </a:solidFill>
                <a:latin typeface="Arial" panose="020B0604020202020204"/>
                <a:ea typeface="Arial" panose="020B0604020202020204"/>
                <a:cs typeface="Arial" panose="020B0604020202020204"/>
                <a:sym typeface="Arial" panose="020B0604020202020204"/>
              </a:rPr>
            </a:b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 name="Slide Number Placeholder 6"/>
          <p:cNvSpPr>
            <a:spLocks noGrp="1"/>
          </p:cNvSpPr>
          <p:nvPr>
            <p:ph type="sldNum" sz="quarter" idx="12"/>
          </p:nvPr>
        </p:nvSpPr>
        <p:spPr/>
        <p:txBody>
          <a:bodyPr/>
          <a:lstStyle/>
          <a:p>
            <a:fld id="{C1FF6DA9-008F-8B48-92A6-B652298478BF}"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000" b="1" i="1" u="sng" dirty="0"/>
              <a:t>Problem Statement</a:t>
            </a:r>
          </a:p>
        </p:txBody>
      </p:sp>
      <p:sp>
        <p:nvSpPr>
          <p:cNvPr id="3" name="Content Placeholder 2"/>
          <p:cNvSpPr>
            <a:spLocks noGrp="1"/>
          </p:cNvSpPr>
          <p:nvPr>
            <p:ph idx="1"/>
          </p:nvPr>
        </p:nvSpPr>
        <p:spPr/>
        <p:txBody>
          <a:bodyPr>
            <a:normAutofit/>
          </a:bodyPr>
          <a:lstStyle/>
          <a:p>
            <a:r>
              <a:rPr sz="2800" dirty="0"/>
              <a:t>In online meetings and classrooms, it is difficult to monitor participant attention.</a:t>
            </a:r>
          </a:p>
          <a:p>
            <a:r>
              <a:rPr sz="2800" dirty="0"/>
              <a:t>Manual observation is inefficient.</a:t>
            </a:r>
            <a:endParaRPr lang="en-IN" sz="2800" dirty="0"/>
          </a:p>
          <a:p>
            <a:r>
              <a:rPr lang="en-US" sz="2800" dirty="0"/>
              <a:t>Maintaining attention during video conferencing is challenging, as existing systems cannot detect whether users are attentive, distracted, or drowsy.</a:t>
            </a:r>
            <a:endParaRPr lang="en-IN" sz="2800" dirty="0"/>
          </a:p>
          <a:p>
            <a:endParaRPr lang="en-IN" sz="2800" dirty="0"/>
          </a:p>
          <a:p>
            <a:endParaRPr sz="2800" dirty="0"/>
          </a:p>
        </p:txBody>
      </p:sp>
      <p:sp>
        <p:nvSpPr>
          <p:cNvPr id="8" name="Slide Number Placeholder 7"/>
          <p:cNvSpPr>
            <a:spLocks noGrp="1"/>
          </p:cNvSpPr>
          <p:nvPr>
            <p:ph type="sldNum" sz="quarter" idx="12"/>
          </p:nvPr>
        </p:nvSpPr>
        <p:spPr/>
        <p:txBody>
          <a:bodyPr/>
          <a:lstStyle/>
          <a:p>
            <a:fld id="{C1FF6DA9-008F-8B48-92A6-B652298478BF}" type="slidenum">
              <a:rPr lang="en-US" smtClean="0"/>
              <a:t>2</a:t>
            </a:fld>
            <a:endParaRPr lang="en-US"/>
          </a:p>
        </p:txBody>
      </p:sp>
      <p:sp>
        <p:nvSpPr>
          <p:cNvPr id="4" name="Footer Placeholder 3">
            <a:extLst>
              <a:ext uri="{FF2B5EF4-FFF2-40B4-BE49-F238E27FC236}">
                <a16:creationId xmlns:a16="http://schemas.microsoft.com/office/drawing/2014/main" id="{C80DAA89-F5D8-2BEB-56F9-1F6D3993D2AA}"/>
              </a:ext>
            </a:extLst>
          </p:cNvPr>
          <p:cNvSpPr>
            <a:spLocks noGrp="1"/>
          </p:cNvSpPr>
          <p:nvPr>
            <p:ph type="ftr" sz="quarter" idx="11"/>
          </p:nvPr>
        </p:nvSpPr>
        <p:spPr/>
        <p:txBody>
          <a:bodyPr/>
          <a:lstStyle/>
          <a:p>
            <a:r>
              <a:rPr lang="en-US"/>
              <a:t>Continuous attention monitoring in vc using media pipe and CNN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000" b="1" i="1" u="sng" dirty="0"/>
              <a:t>Objective</a:t>
            </a:r>
          </a:p>
        </p:txBody>
      </p:sp>
      <p:sp>
        <p:nvSpPr>
          <p:cNvPr id="3" name="Content Placeholder 2"/>
          <p:cNvSpPr>
            <a:spLocks noGrp="1"/>
          </p:cNvSpPr>
          <p:nvPr>
            <p:ph idx="1"/>
          </p:nvPr>
        </p:nvSpPr>
        <p:spPr/>
        <p:txBody>
          <a:bodyPr>
            <a:normAutofit/>
          </a:bodyPr>
          <a:lstStyle/>
          <a:p>
            <a:r>
              <a:rPr sz="2800" dirty="0"/>
              <a:t>Detect attention using AI.</a:t>
            </a:r>
          </a:p>
          <a:p>
            <a:r>
              <a:rPr sz="2800" dirty="0"/>
              <a:t>Identify distraction and inactivity.</a:t>
            </a:r>
          </a:p>
          <a:p>
            <a:r>
              <a:rPr sz="2800" dirty="0"/>
              <a:t>Send alerts to user and host.</a:t>
            </a:r>
          </a:p>
          <a:p>
            <a:r>
              <a:rPr sz="2800" dirty="0"/>
              <a:t>Improve engagement</a:t>
            </a:r>
            <a:r>
              <a:rPr lang="en-IN" sz="2800" dirty="0"/>
              <a:t>.</a:t>
            </a:r>
            <a:endParaRPr sz="2800" dirty="0"/>
          </a:p>
        </p:txBody>
      </p:sp>
      <p:sp>
        <p:nvSpPr>
          <p:cNvPr id="7" name="Slide Number Placeholder 6"/>
          <p:cNvSpPr>
            <a:spLocks noGrp="1"/>
          </p:cNvSpPr>
          <p:nvPr>
            <p:ph type="sldNum" sz="quarter" idx="12"/>
          </p:nvPr>
        </p:nvSpPr>
        <p:spPr/>
        <p:txBody>
          <a:bodyPr/>
          <a:lstStyle/>
          <a:p>
            <a:fld id="{C1FF6DA9-008F-8B48-92A6-B652298478BF}" type="slidenum">
              <a:rPr lang="en-US" smtClean="0"/>
              <a:t>3</a:t>
            </a:fld>
            <a:endParaRPr lang="en-US"/>
          </a:p>
        </p:txBody>
      </p:sp>
      <p:sp>
        <p:nvSpPr>
          <p:cNvPr id="4" name="Footer Placeholder 3">
            <a:extLst>
              <a:ext uri="{FF2B5EF4-FFF2-40B4-BE49-F238E27FC236}">
                <a16:creationId xmlns:a16="http://schemas.microsoft.com/office/drawing/2014/main" id="{7F51184F-FCFD-EDC4-F75B-D2ECDB5D0BD5}"/>
              </a:ext>
            </a:extLst>
          </p:cNvPr>
          <p:cNvSpPr>
            <a:spLocks noGrp="1"/>
          </p:cNvSpPr>
          <p:nvPr>
            <p:ph type="ftr" sz="quarter" idx="11"/>
          </p:nvPr>
        </p:nvSpPr>
        <p:spPr/>
        <p:txBody>
          <a:bodyPr/>
          <a:lstStyle/>
          <a:p>
            <a:r>
              <a:rPr lang="en-US"/>
              <a:t>Continuous attention monitoring in vc using media pipe and CNN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000" b="1" i="1" u="sng" dirty="0"/>
              <a:t>Technologies Used</a:t>
            </a:r>
          </a:p>
        </p:txBody>
      </p:sp>
      <p:sp>
        <p:nvSpPr>
          <p:cNvPr id="3" name="Content Placeholder 2"/>
          <p:cNvSpPr>
            <a:spLocks noGrp="1"/>
          </p:cNvSpPr>
          <p:nvPr>
            <p:ph idx="1"/>
          </p:nvPr>
        </p:nvSpPr>
        <p:spPr>
          <a:xfrm>
            <a:off x="457200" y="980758"/>
            <a:ext cx="8229600" cy="4525963"/>
          </a:xfrm>
        </p:spPr>
        <p:txBody>
          <a:bodyPr>
            <a:normAutofit/>
          </a:bodyPr>
          <a:lstStyle/>
          <a:p>
            <a:pPr marL="0" indent="0">
              <a:buNone/>
            </a:pPr>
            <a:endParaRPr sz="2800" dirty="0"/>
          </a:p>
          <a:p>
            <a:r>
              <a:rPr sz="2800" dirty="0"/>
              <a:t>OpenCV</a:t>
            </a:r>
            <a:r>
              <a:rPr lang="en-IN" sz="2800" dirty="0"/>
              <a:t> (For video capture and image processing)</a:t>
            </a:r>
            <a:endParaRPr sz="2800" dirty="0"/>
          </a:p>
          <a:p>
            <a:r>
              <a:rPr sz="2800" dirty="0"/>
              <a:t>Deep Learning (CNN)</a:t>
            </a:r>
          </a:p>
          <a:p>
            <a:r>
              <a:rPr sz="2800" dirty="0" err="1"/>
              <a:t>MediaPipe</a:t>
            </a:r>
            <a:r>
              <a:rPr lang="en-IN" sz="2800" dirty="0"/>
              <a:t> (For Facial landmark detection)</a:t>
            </a:r>
          </a:p>
          <a:p>
            <a:r>
              <a:rPr lang="en-IN" sz="2800" dirty="0"/>
              <a:t>LDTN</a:t>
            </a:r>
            <a:endParaRPr sz="2800" dirty="0"/>
          </a:p>
          <a:p>
            <a:r>
              <a:rPr sz="2800" dirty="0"/>
              <a:t>Flask / Web App</a:t>
            </a:r>
            <a:r>
              <a:rPr lang="en-IN" sz="2800" dirty="0"/>
              <a:t> </a:t>
            </a:r>
            <a:endParaRPr sz="2800" dirty="0"/>
          </a:p>
          <a:p>
            <a:r>
              <a:rPr sz="2800" dirty="0"/>
              <a:t>Database</a:t>
            </a:r>
          </a:p>
        </p:txBody>
      </p:sp>
      <p:sp>
        <p:nvSpPr>
          <p:cNvPr id="7" name="Slide Number Placeholder 6"/>
          <p:cNvSpPr>
            <a:spLocks noGrp="1"/>
          </p:cNvSpPr>
          <p:nvPr>
            <p:ph type="sldNum" sz="quarter" idx="12"/>
          </p:nvPr>
        </p:nvSpPr>
        <p:spPr/>
        <p:txBody>
          <a:bodyPr/>
          <a:lstStyle/>
          <a:p>
            <a:fld id="{C1FF6DA9-008F-8B48-92A6-B652298478BF}" type="slidenum">
              <a:rPr lang="en-US" smtClean="0"/>
              <a:t>4</a:t>
            </a:fld>
            <a:endParaRPr lang="en-US"/>
          </a:p>
        </p:txBody>
      </p:sp>
      <p:sp>
        <p:nvSpPr>
          <p:cNvPr id="4" name="Footer Placeholder 3">
            <a:extLst>
              <a:ext uri="{FF2B5EF4-FFF2-40B4-BE49-F238E27FC236}">
                <a16:creationId xmlns:a16="http://schemas.microsoft.com/office/drawing/2014/main" id="{F989ECF2-5871-B00D-88F2-BF770D4FBC21}"/>
              </a:ext>
            </a:extLst>
          </p:cNvPr>
          <p:cNvSpPr>
            <a:spLocks noGrp="1"/>
          </p:cNvSpPr>
          <p:nvPr>
            <p:ph type="ftr" sz="quarter" idx="11"/>
          </p:nvPr>
        </p:nvSpPr>
        <p:spPr/>
        <p:txBody>
          <a:bodyPr/>
          <a:lstStyle/>
          <a:p>
            <a:r>
              <a:rPr lang="en-US"/>
              <a:t>Continuous attention monitoring in vc using media pipe and CNN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000" b="1" i="1" u="sng" dirty="0"/>
              <a:t>Working Methodology</a:t>
            </a:r>
          </a:p>
        </p:txBody>
      </p:sp>
      <p:sp>
        <p:nvSpPr>
          <p:cNvPr id="3" name="Content Placeholder 2"/>
          <p:cNvSpPr>
            <a:spLocks noGrp="1"/>
          </p:cNvSpPr>
          <p:nvPr>
            <p:ph idx="1"/>
          </p:nvPr>
        </p:nvSpPr>
        <p:spPr/>
        <p:txBody>
          <a:bodyPr>
            <a:normAutofit/>
          </a:bodyPr>
          <a:lstStyle/>
          <a:p>
            <a:r>
              <a:rPr sz="2800" dirty="0"/>
              <a:t>Capture video frames</a:t>
            </a:r>
          </a:p>
          <a:p>
            <a:r>
              <a:rPr sz="2800" dirty="0"/>
              <a:t>Face detection</a:t>
            </a:r>
          </a:p>
          <a:p>
            <a:r>
              <a:rPr sz="2800" dirty="0"/>
              <a:t>Eye tracking &amp; head movement</a:t>
            </a:r>
          </a:p>
          <a:p>
            <a:r>
              <a:rPr sz="2800" dirty="0"/>
              <a:t>Attention classification</a:t>
            </a:r>
          </a:p>
          <a:p>
            <a:r>
              <a:rPr sz="2800" dirty="0"/>
              <a:t>Alert system</a:t>
            </a:r>
          </a:p>
        </p:txBody>
      </p:sp>
      <p:sp>
        <p:nvSpPr>
          <p:cNvPr id="7" name="Slide Number Placeholder 6"/>
          <p:cNvSpPr>
            <a:spLocks noGrp="1"/>
          </p:cNvSpPr>
          <p:nvPr>
            <p:ph type="sldNum" sz="quarter" idx="12"/>
          </p:nvPr>
        </p:nvSpPr>
        <p:spPr/>
        <p:txBody>
          <a:bodyPr/>
          <a:lstStyle/>
          <a:p>
            <a:fld id="{C1FF6DA9-008F-8B48-92A6-B652298478BF}" type="slidenum">
              <a:rPr lang="en-US" smtClean="0"/>
              <a:t>5</a:t>
            </a:fld>
            <a:endParaRPr lang="en-US"/>
          </a:p>
        </p:txBody>
      </p:sp>
      <p:sp>
        <p:nvSpPr>
          <p:cNvPr id="4" name="Footer Placeholder 3">
            <a:extLst>
              <a:ext uri="{FF2B5EF4-FFF2-40B4-BE49-F238E27FC236}">
                <a16:creationId xmlns:a16="http://schemas.microsoft.com/office/drawing/2014/main" id="{2019DB33-E375-BB04-9A6A-1AFD88ED1BA8}"/>
              </a:ext>
            </a:extLst>
          </p:cNvPr>
          <p:cNvSpPr>
            <a:spLocks noGrp="1"/>
          </p:cNvSpPr>
          <p:nvPr>
            <p:ph type="ftr" sz="quarter" idx="11"/>
          </p:nvPr>
        </p:nvSpPr>
        <p:spPr/>
        <p:txBody>
          <a:bodyPr/>
          <a:lstStyle/>
          <a:p>
            <a:r>
              <a:rPr lang="en-US"/>
              <a:t>Continuous attention monitoring in vc using media pipe and CNN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45064"/>
            <a:ext cx="7772400" cy="989847"/>
          </a:xfrm>
        </p:spPr>
        <p:txBody>
          <a:bodyPr>
            <a:normAutofit/>
          </a:bodyPr>
          <a:lstStyle/>
          <a:p>
            <a:pPr algn="l"/>
            <a:r>
              <a:rPr lang="en-IN" sz="4000" b="1" i="1" u="sng" dirty="0"/>
              <a:t>Research Paper 1 Review</a:t>
            </a:r>
          </a:p>
        </p:txBody>
      </p:sp>
      <p:sp>
        <p:nvSpPr>
          <p:cNvPr id="3" name="Subtitle 2"/>
          <p:cNvSpPr>
            <a:spLocks noGrp="1"/>
          </p:cNvSpPr>
          <p:nvPr>
            <p:ph type="subTitle" idx="1"/>
          </p:nvPr>
        </p:nvSpPr>
        <p:spPr>
          <a:xfrm>
            <a:off x="0" y="1428163"/>
            <a:ext cx="9144000" cy="365125"/>
          </a:xfrm>
        </p:spPr>
        <p:txBody>
          <a:bodyPr>
            <a:normAutofit fontScale="47500" lnSpcReduction="20000"/>
          </a:bodyPr>
          <a:lstStyle/>
          <a:p>
            <a:pPr algn="l"/>
            <a:r>
              <a:rPr lang="en-IN" dirty="0"/>
              <a:t>   Year                    Author                        Title                         Methodology                   Advantages               Disadvantages </a:t>
            </a:r>
          </a:p>
        </p:txBody>
      </p:sp>
      <p:sp>
        <p:nvSpPr>
          <p:cNvPr id="5" name="Slide Number Placeholder 4"/>
          <p:cNvSpPr>
            <a:spLocks noGrp="1"/>
          </p:cNvSpPr>
          <p:nvPr>
            <p:ph type="sldNum" sz="quarter" idx="12"/>
          </p:nvPr>
        </p:nvSpPr>
        <p:spPr/>
        <p:txBody>
          <a:bodyPr/>
          <a:lstStyle/>
          <a:p>
            <a:fld id="{C1FF6DA9-008F-8B48-92A6-B652298478BF}" type="slidenum">
              <a:rPr lang="en-US" smtClean="0"/>
              <a:t>6</a:t>
            </a:fld>
            <a:endParaRPr lang="en-US"/>
          </a:p>
        </p:txBody>
      </p:sp>
      <p:graphicFrame>
        <p:nvGraphicFramePr>
          <p:cNvPr id="8" name="Table 7"/>
          <p:cNvGraphicFramePr>
            <a:graphicFrameLocks noGrp="1"/>
          </p:cNvGraphicFramePr>
          <p:nvPr/>
        </p:nvGraphicFramePr>
        <p:xfrm>
          <a:off x="-1" y="1767839"/>
          <a:ext cx="9144000" cy="4500985"/>
        </p:xfrm>
        <a:graphic>
          <a:graphicData uri="http://schemas.openxmlformats.org/drawingml/2006/table">
            <a:tbl>
              <a:tblPr>
                <a:tableStyleId>{616DA210-FB5B-4158-B5E0-FEB733F419BA}</a:tableStyleId>
              </a:tblPr>
              <a:tblGrid>
                <a:gridCol w="999242">
                  <a:extLst>
                    <a:ext uri="{9D8B030D-6E8A-4147-A177-3AD203B41FA5}">
                      <a16:colId xmlns:a16="http://schemas.microsoft.com/office/drawing/2014/main" val="20000"/>
                    </a:ext>
                  </a:extLst>
                </a:gridCol>
                <a:gridCol w="1480008">
                  <a:extLst>
                    <a:ext uri="{9D8B030D-6E8A-4147-A177-3AD203B41FA5}">
                      <a16:colId xmlns:a16="http://schemas.microsoft.com/office/drawing/2014/main" val="20001"/>
                    </a:ext>
                  </a:extLst>
                </a:gridCol>
                <a:gridCol w="1659118">
                  <a:extLst>
                    <a:ext uri="{9D8B030D-6E8A-4147-A177-3AD203B41FA5}">
                      <a16:colId xmlns:a16="http://schemas.microsoft.com/office/drawing/2014/main" val="20002"/>
                    </a:ext>
                  </a:extLst>
                </a:gridCol>
                <a:gridCol w="1957632">
                  <a:extLst>
                    <a:ext uri="{9D8B030D-6E8A-4147-A177-3AD203B41FA5}">
                      <a16:colId xmlns:a16="http://schemas.microsoft.com/office/drawing/2014/main" val="20003"/>
                    </a:ext>
                  </a:extLst>
                </a:gridCol>
                <a:gridCol w="1524000">
                  <a:extLst>
                    <a:ext uri="{9D8B030D-6E8A-4147-A177-3AD203B41FA5}">
                      <a16:colId xmlns:a16="http://schemas.microsoft.com/office/drawing/2014/main" val="20004"/>
                    </a:ext>
                  </a:extLst>
                </a:gridCol>
                <a:gridCol w="1524000">
                  <a:extLst>
                    <a:ext uri="{9D8B030D-6E8A-4147-A177-3AD203B41FA5}">
                      <a16:colId xmlns:a16="http://schemas.microsoft.com/office/drawing/2014/main" val="20005"/>
                    </a:ext>
                  </a:extLst>
                </a:gridCol>
              </a:tblGrid>
              <a:tr h="4500985">
                <a:tc>
                  <a:txBody>
                    <a:bodyPr/>
                    <a:lstStyle/>
                    <a:p>
                      <a:r>
                        <a:rPr lang="en-IN" sz="1600" dirty="0"/>
                        <a:t>2024</a:t>
                      </a:r>
                    </a:p>
                  </a:txBody>
                  <a:tcPr/>
                </a:tc>
                <a:tc>
                  <a:txBody>
                    <a:bodyPr/>
                    <a:lstStyle/>
                    <a:p>
                      <a:pPr marL="0" indent="0">
                        <a:buNone/>
                      </a:pPr>
                      <a:r>
                        <a:rPr lang="en-IN" sz="1400" dirty="0"/>
                        <a:t>Shreeya Patil </a:t>
                      </a:r>
                    </a:p>
                    <a:p>
                      <a:pPr marL="0" indent="0">
                        <a:buNone/>
                      </a:pPr>
                      <a:r>
                        <a:rPr lang="en-IN" sz="1400" dirty="0"/>
                        <a:t>Aayushi </a:t>
                      </a:r>
                      <a:r>
                        <a:rPr lang="en-IN" sz="1400" dirty="0" err="1"/>
                        <a:t>jani</a:t>
                      </a:r>
                      <a:r>
                        <a:rPr lang="en-IN" sz="1400" dirty="0"/>
                        <a:t> </a:t>
                      </a:r>
                    </a:p>
                  </a:txBody>
                  <a:tcPr/>
                </a:tc>
                <a:tc>
                  <a:txBody>
                    <a:bodyPr/>
                    <a:lstStyle/>
                    <a:p>
                      <a:pPr algn="l"/>
                      <a:r>
                        <a:rPr lang="en-US" sz="1400" dirty="0"/>
                        <a:t>Student’s Attention and Alertness Monitoring System using AI</a:t>
                      </a:r>
                      <a:endParaRPr lang="en-IN" sz="14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sz="1200" dirty="0"/>
                        <a:t>Face Detection: Our attention monitoring approach is made up of a series of linked steps intended to measure attention levels in real time. Using the cv2.CascadeClassifier class, a pre-trained Haar Cascade classifier is first loaded in order to identify faces. Then, each frame of the video is subjected to the detect Multiscale method, and the resulting coordinates (x, y, width, and height) of faces that are detected are obtained. Next, we use a shape predictor from the </a:t>
                      </a:r>
                      <a:r>
                        <a:rPr lang="en-US" sz="1200" dirty="0" err="1"/>
                        <a:t>dlib</a:t>
                      </a:r>
                      <a:r>
                        <a:rPr lang="en-US" sz="1200" dirty="0"/>
                        <a:t> library to predict facial landmarks</a:t>
                      </a:r>
                      <a:endParaRPr lang="en-IN" sz="1200" dirty="0"/>
                    </a:p>
                    <a:p>
                      <a:endParaRPr lang="en-IN" dirty="0"/>
                    </a:p>
                  </a:txBody>
                  <a:tcPr/>
                </a:tc>
                <a:tc>
                  <a:txBody>
                    <a:bodyPr/>
                    <a:lstStyle/>
                    <a:p>
                      <a:pPr marL="0" indent="0" algn="l">
                        <a:buNone/>
                      </a:pPr>
                      <a:r>
                        <a:rPr lang="en-IN" sz="1400" dirty="0"/>
                        <a:t>1) Real time Monitoring </a:t>
                      </a:r>
                    </a:p>
                    <a:p>
                      <a:pPr marL="0" indent="0">
                        <a:buNone/>
                      </a:pPr>
                      <a:r>
                        <a:rPr lang="en-IN" sz="1400" dirty="0"/>
                        <a:t>2) Uses simple and efficient methods.</a:t>
                      </a:r>
                      <a:br>
                        <a:rPr lang="en-IN" sz="1400" dirty="0"/>
                      </a:br>
                      <a:r>
                        <a:rPr lang="en-IN" sz="1400" dirty="0"/>
                        <a:t>3) Gives useful feedback </a:t>
                      </a:r>
                    </a:p>
                  </a:txBody>
                  <a:tcPr/>
                </a:tc>
                <a:tc>
                  <a:txBody>
                    <a:bodyPr/>
                    <a:lstStyle/>
                    <a:p>
                      <a:pPr marL="0" indent="0">
                        <a:buNone/>
                      </a:pPr>
                      <a:r>
                        <a:rPr lang="en-IN" sz="1400" dirty="0"/>
                        <a:t>1) Accuracy Depends on conditions. </a:t>
                      </a:r>
                    </a:p>
                    <a:p>
                      <a:pPr marL="0" indent="0">
                        <a:buNone/>
                      </a:pPr>
                      <a:r>
                        <a:rPr lang="en-IN" sz="1400" dirty="0"/>
                        <a:t>2) Limited to one face </a:t>
                      </a:r>
                    </a:p>
                  </a:txBody>
                  <a:tcPr/>
                </a:tc>
                <a:extLst>
                  <a:ext uri="{0D108BD9-81ED-4DB2-BD59-A6C34878D82A}">
                    <a16:rowId xmlns:a16="http://schemas.microsoft.com/office/drawing/2014/main" val="10000"/>
                  </a:ext>
                </a:extLst>
              </a:tr>
            </a:tbl>
          </a:graphicData>
        </a:graphic>
      </p:graphicFrame>
      <p:sp>
        <p:nvSpPr>
          <p:cNvPr id="6" name="Footer Placeholder 5">
            <a:extLst>
              <a:ext uri="{FF2B5EF4-FFF2-40B4-BE49-F238E27FC236}">
                <a16:creationId xmlns:a16="http://schemas.microsoft.com/office/drawing/2014/main" id="{768CCBF8-9B36-0339-DB14-1A5D8E71377B}"/>
              </a:ext>
            </a:extLst>
          </p:cNvPr>
          <p:cNvSpPr>
            <a:spLocks noGrp="1"/>
          </p:cNvSpPr>
          <p:nvPr>
            <p:ph type="ftr" sz="quarter" idx="11"/>
          </p:nvPr>
        </p:nvSpPr>
        <p:spPr/>
        <p:txBody>
          <a:bodyPr/>
          <a:lstStyle/>
          <a:p>
            <a:r>
              <a:rPr lang="en-US"/>
              <a:t>Continuous attention monitoring in vc using media pipe and CNN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3C356-8E8D-EA1F-D2F9-CC969CA75384}"/>
              </a:ext>
            </a:extLst>
          </p:cNvPr>
          <p:cNvSpPr>
            <a:spLocks noGrp="1"/>
          </p:cNvSpPr>
          <p:nvPr>
            <p:ph type="ctrTitle"/>
          </p:nvPr>
        </p:nvSpPr>
        <p:spPr>
          <a:xfrm>
            <a:off x="614680" y="136525"/>
            <a:ext cx="7772400" cy="1011555"/>
          </a:xfrm>
        </p:spPr>
        <p:txBody>
          <a:bodyPr>
            <a:normAutofit/>
          </a:bodyPr>
          <a:lstStyle/>
          <a:p>
            <a:pPr algn="l"/>
            <a:r>
              <a:rPr lang="en-IN" sz="4000" b="1" i="1" u="sng" dirty="0"/>
              <a:t>Research Paper 2 Review </a:t>
            </a:r>
          </a:p>
        </p:txBody>
      </p:sp>
      <p:sp>
        <p:nvSpPr>
          <p:cNvPr id="3" name="Subtitle 2">
            <a:extLst>
              <a:ext uri="{FF2B5EF4-FFF2-40B4-BE49-F238E27FC236}">
                <a16:creationId xmlns:a16="http://schemas.microsoft.com/office/drawing/2014/main" id="{4BBF205A-0090-1653-AA92-0DB3C9BC744F}"/>
              </a:ext>
            </a:extLst>
          </p:cNvPr>
          <p:cNvSpPr>
            <a:spLocks noGrp="1"/>
          </p:cNvSpPr>
          <p:nvPr>
            <p:ph type="subTitle" idx="1"/>
          </p:nvPr>
        </p:nvSpPr>
        <p:spPr>
          <a:xfrm>
            <a:off x="0" y="1254760"/>
            <a:ext cx="9144000" cy="513080"/>
          </a:xfrm>
        </p:spPr>
        <p:txBody>
          <a:bodyPr>
            <a:normAutofit/>
          </a:bodyPr>
          <a:lstStyle/>
          <a:p>
            <a:pPr algn="l"/>
            <a:r>
              <a:rPr lang="en-IN" sz="2400" dirty="0"/>
              <a:t> </a:t>
            </a:r>
            <a:r>
              <a:rPr lang="en-IN" sz="1800" dirty="0"/>
              <a:t>Year            Author               Title                       Methodology                Advantage         Disadvantage</a:t>
            </a:r>
          </a:p>
        </p:txBody>
      </p:sp>
      <p:sp>
        <p:nvSpPr>
          <p:cNvPr id="4" name="Footer Placeholder 3">
            <a:extLst>
              <a:ext uri="{FF2B5EF4-FFF2-40B4-BE49-F238E27FC236}">
                <a16:creationId xmlns:a16="http://schemas.microsoft.com/office/drawing/2014/main" id="{8DDBB0C9-B503-8AB8-D495-7F973D8262FB}"/>
              </a:ext>
            </a:extLst>
          </p:cNvPr>
          <p:cNvSpPr>
            <a:spLocks noGrp="1"/>
          </p:cNvSpPr>
          <p:nvPr>
            <p:ph type="ftr" sz="quarter" idx="11"/>
          </p:nvPr>
        </p:nvSpPr>
        <p:spPr/>
        <p:txBody>
          <a:bodyPr/>
          <a:lstStyle/>
          <a:p>
            <a:r>
              <a:rPr lang="en-US"/>
              <a:t>Continuous attention monitoring in vc using media pipe and CNN</a:t>
            </a:r>
          </a:p>
        </p:txBody>
      </p:sp>
      <p:sp>
        <p:nvSpPr>
          <p:cNvPr id="5" name="Slide Number Placeholder 4">
            <a:extLst>
              <a:ext uri="{FF2B5EF4-FFF2-40B4-BE49-F238E27FC236}">
                <a16:creationId xmlns:a16="http://schemas.microsoft.com/office/drawing/2014/main" id="{5D2CCCFB-377A-8470-697C-2B102865CEC5}"/>
              </a:ext>
            </a:extLst>
          </p:cNvPr>
          <p:cNvSpPr>
            <a:spLocks noGrp="1"/>
          </p:cNvSpPr>
          <p:nvPr>
            <p:ph type="sldNum" sz="quarter" idx="12"/>
          </p:nvPr>
        </p:nvSpPr>
        <p:spPr/>
        <p:txBody>
          <a:bodyPr/>
          <a:lstStyle/>
          <a:p>
            <a:fld id="{C1FF6DA9-008F-8B48-92A6-B652298478BF}" type="slidenum">
              <a:rPr lang="en-US" smtClean="0"/>
              <a:t>7</a:t>
            </a:fld>
            <a:endParaRPr lang="en-US"/>
          </a:p>
        </p:txBody>
      </p:sp>
      <p:graphicFrame>
        <p:nvGraphicFramePr>
          <p:cNvPr id="6" name="Table 5">
            <a:extLst>
              <a:ext uri="{FF2B5EF4-FFF2-40B4-BE49-F238E27FC236}">
                <a16:creationId xmlns:a16="http://schemas.microsoft.com/office/drawing/2014/main" id="{7F07D4A9-D6FB-5D60-0B4C-A0EB0AA99823}"/>
              </a:ext>
            </a:extLst>
          </p:cNvPr>
          <p:cNvGraphicFramePr>
            <a:graphicFrameLocks noGrp="1"/>
          </p:cNvGraphicFramePr>
          <p:nvPr>
            <p:extLst>
              <p:ext uri="{D42A27DB-BD31-4B8C-83A1-F6EECF244321}">
                <p14:modId xmlns:p14="http://schemas.microsoft.com/office/powerpoint/2010/main" val="773008259"/>
              </p:ext>
            </p:extLst>
          </p:nvPr>
        </p:nvGraphicFramePr>
        <p:xfrm>
          <a:off x="0" y="1747520"/>
          <a:ext cx="9144000" cy="4480560"/>
        </p:xfrm>
        <a:graphic>
          <a:graphicData uri="http://schemas.openxmlformats.org/drawingml/2006/table">
            <a:tbl>
              <a:tblPr>
                <a:tableStyleId>{616DA210-FB5B-4158-B5E0-FEB733F419BA}</a:tableStyleId>
              </a:tblPr>
              <a:tblGrid>
                <a:gridCol w="1005840">
                  <a:extLst>
                    <a:ext uri="{9D8B030D-6E8A-4147-A177-3AD203B41FA5}">
                      <a16:colId xmlns:a16="http://schemas.microsoft.com/office/drawing/2014/main" val="3362873334"/>
                    </a:ext>
                  </a:extLst>
                </a:gridCol>
                <a:gridCol w="1381760">
                  <a:extLst>
                    <a:ext uri="{9D8B030D-6E8A-4147-A177-3AD203B41FA5}">
                      <a16:colId xmlns:a16="http://schemas.microsoft.com/office/drawing/2014/main" val="1427137242"/>
                    </a:ext>
                  </a:extLst>
                </a:gridCol>
                <a:gridCol w="1645920">
                  <a:extLst>
                    <a:ext uri="{9D8B030D-6E8A-4147-A177-3AD203B41FA5}">
                      <a16:colId xmlns:a16="http://schemas.microsoft.com/office/drawing/2014/main" val="3021718891"/>
                    </a:ext>
                  </a:extLst>
                </a:gridCol>
                <a:gridCol w="2062480">
                  <a:extLst>
                    <a:ext uri="{9D8B030D-6E8A-4147-A177-3AD203B41FA5}">
                      <a16:colId xmlns:a16="http://schemas.microsoft.com/office/drawing/2014/main" val="1895707110"/>
                    </a:ext>
                  </a:extLst>
                </a:gridCol>
                <a:gridCol w="1524000">
                  <a:extLst>
                    <a:ext uri="{9D8B030D-6E8A-4147-A177-3AD203B41FA5}">
                      <a16:colId xmlns:a16="http://schemas.microsoft.com/office/drawing/2014/main" val="1856751333"/>
                    </a:ext>
                  </a:extLst>
                </a:gridCol>
                <a:gridCol w="1524000">
                  <a:extLst>
                    <a:ext uri="{9D8B030D-6E8A-4147-A177-3AD203B41FA5}">
                      <a16:colId xmlns:a16="http://schemas.microsoft.com/office/drawing/2014/main" val="2536496601"/>
                    </a:ext>
                  </a:extLst>
                </a:gridCol>
              </a:tblGrid>
              <a:tr h="4480560">
                <a:tc>
                  <a:txBody>
                    <a:bodyPr/>
                    <a:lstStyle/>
                    <a:p>
                      <a:r>
                        <a:rPr lang="en-IN" sz="1600" dirty="0"/>
                        <a:t>2023</a:t>
                      </a:r>
                    </a:p>
                  </a:txBody>
                  <a:tcPr/>
                </a:tc>
                <a:tc>
                  <a:txBody>
                    <a:bodyPr/>
                    <a:lstStyle/>
                    <a:p>
                      <a:pPr marL="0" indent="0">
                        <a:buNone/>
                      </a:pPr>
                      <a:r>
                        <a:rPr lang="en-IN" sz="1600" dirty="0"/>
                        <a:t>1)Perumal B</a:t>
                      </a:r>
                    </a:p>
                    <a:p>
                      <a:pPr marL="0" indent="0">
                        <a:buNone/>
                      </a:pPr>
                      <a:r>
                        <a:rPr lang="en-IN" sz="1600" dirty="0"/>
                        <a:t>2)Nagaraj P</a:t>
                      </a:r>
                    </a:p>
                    <a:p>
                      <a:pPr marL="0" indent="0">
                        <a:buNone/>
                      </a:pPr>
                      <a:r>
                        <a:rPr lang="en-IN" sz="1600" dirty="0"/>
                        <a:t>3)Thulasi Sai Narsimha Charan </a:t>
                      </a:r>
                    </a:p>
                  </a:txBody>
                  <a:tcPr/>
                </a:tc>
                <a:tc>
                  <a:txBody>
                    <a:bodyPr/>
                    <a:lstStyle/>
                    <a:p>
                      <a:r>
                        <a:rPr lang="en-US" sz="1600" dirty="0"/>
                        <a:t>Student Engagement Detection in Classroom using Deep CNN-based Learning Approach </a:t>
                      </a:r>
                      <a:endParaRPr lang="en-IN" sz="1600" dirty="0"/>
                    </a:p>
                  </a:txBody>
                  <a:tcPr/>
                </a:tc>
                <a:tc>
                  <a:txBody>
                    <a:bodyPr/>
                    <a:lstStyle/>
                    <a:p>
                      <a:r>
                        <a:rPr lang="en-US" sz="1100" dirty="0"/>
                        <a:t>The methodology of this paper involves collecting a dataset of around 600–1000 student images with different head poses and eye movements, which are labeled as </a:t>
                      </a:r>
                      <a:r>
                        <a:rPr lang="en-US" sz="1100" i="1" dirty="0"/>
                        <a:t>engaged</a:t>
                      </a:r>
                      <a:r>
                        <a:rPr lang="en-US" sz="1100" dirty="0"/>
                        <a:t> or </a:t>
                      </a:r>
                      <a:r>
                        <a:rPr lang="en-US" sz="1100" i="1" dirty="0"/>
                        <a:t>not engaged</a:t>
                      </a:r>
                      <a:r>
                        <a:rPr lang="en-US" sz="1100" dirty="0"/>
                        <a:t>. These images are then pre-processed through resizing and normalization to make them suitable for model training. The dataset is split into training and testing sets, and two deep learning models—CNN and </a:t>
                      </a:r>
                      <a:r>
                        <a:rPr lang="en-US" sz="1100" dirty="0" err="1"/>
                        <a:t>MobileNet</a:t>
                      </a:r>
                      <a:r>
                        <a:rPr lang="en-US" sz="1100" dirty="0"/>
                        <a:t>—are developed and trained on the data. The CNN model extracts features using convolution and pooling layers, while </a:t>
                      </a:r>
                      <a:r>
                        <a:rPr lang="en-US" sz="1100" dirty="0" err="1"/>
                        <a:t>MobileNet</a:t>
                      </a:r>
                      <a:r>
                        <a:rPr lang="en-US" sz="1100" dirty="0"/>
                        <a:t> provides a lightweight architecture for efficient processing. After training and validation, the system performs classification to predict whether a student is engaged or not based on input images.</a:t>
                      </a:r>
                      <a:endParaRPr lang="en-IN" sz="1100" dirty="0"/>
                    </a:p>
                  </a:txBody>
                  <a:tcPr/>
                </a:tc>
                <a:tc>
                  <a:txBody>
                    <a:bodyPr/>
                    <a:lstStyle/>
                    <a:p>
                      <a:r>
                        <a:rPr lang="en-IN" sz="1600" dirty="0"/>
                        <a:t>1)</a:t>
                      </a:r>
                      <a:r>
                        <a:rPr lang="en-US" sz="1600" dirty="0"/>
                        <a:t> </a:t>
                      </a:r>
                      <a:r>
                        <a:rPr lang="en-US" sz="1400" b="0" dirty="0"/>
                        <a:t>Uses deep learning models (CNN &amp; </a:t>
                      </a:r>
                      <a:r>
                        <a:rPr lang="en-US" sz="1400" b="0" dirty="0" err="1"/>
                        <a:t>MobileNet</a:t>
                      </a:r>
                      <a:r>
                        <a:rPr lang="en-US" sz="1400" b="0" dirty="0"/>
                        <a:t>) which provide high accuracy in image-based classification </a:t>
                      </a:r>
                      <a:r>
                        <a:rPr lang="en-US" sz="1600" dirty="0"/>
                        <a:t>tasks.</a:t>
                      </a:r>
                      <a:endParaRPr lang="en-IN" sz="1600" dirty="0"/>
                    </a:p>
                  </a:txBody>
                  <a:tcPr/>
                </a:tc>
                <a:tc>
                  <a:txBody>
                    <a:bodyPr/>
                    <a:lstStyle/>
                    <a:p>
                      <a:r>
                        <a:rPr lang="en-IN" sz="1600" b="0" dirty="0"/>
                        <a:t>1)</a:t>
                      </a:r>
                      <a:r>
                        <a:rPr lang="en-US" sz="1600" b="0" dirty="0"/>
                        <a:t> Requires a large labeled dataset, which can be time-consuming to collect and annotate.</a:t>
                      </a:r>
                      <a:endParaRPr lang="en-IN" sz="1600" b="0" dirty="0"/>
                    </a:p>
                  </a:txBody>
                  <a:tcPr/>
                </a:tc>
                <a:extLst>
                  <a:ext uri="{0D108BD9-81ED-4DB2-BD59-A6C34878D82A}">
                    <a16:rowId xmlns:a16="http://schemas.microsoft.com/office/drawing/2014/main" val="1576368502"/>
                  </a:ext>
                </a:extLst>
              </a:tr>
            </a:tbl>
          </a:graphicData>
        </a:graphic>
      </p:graphicFrame>
    </p:spTree>
    <p:extLst>
      <p:ext uri="{BB962C8B-B14F-4D97-AF65-F5344CB8AC3E}">
        <p14:creationId xmlns:p14="http://schemas.microsoft.com/office/powerpoint/2010/main" val="23972996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000" b="1" i="1" u="sng" dirty="0"/>
              <a:t>Features</a:t>
            </a:r>
          </a:p>
        </p:txBody>
      </p:sp>
      <p:sp>
        <p:nvSpPr>
          <p:cNvPr id="3" name="Content Placeholder 2"/>
          <p:cNvSpPr>
            <a:spLocks noGrp="1"/>
          </p:cNvSpPr>
          <p:nvPr>
            <p:ph idx="1"/>
          </p:nvPr>
        </p:nvSpPr>
        <p:spPr/>
        <p:txBody>
          <a:bodyPr>
            <a:normAutofit/>
          </a:bodyPr>
          <a:lstStyle/>
          <a:p>
            <a:r>
              <a:rPr sz="2800" dirty="0"/>
              <a:t>Real-time monitoring</a:t>
            </a:r>
          </a:p>
          <a:p>
            <a:r>
              <a:rPr sz="2800" dirty="0"/>
              <a:t>Attention scoring</a:t>
            </a:r>
          </a:p>
          <a:p>
            <a:r>
              <a:rPr sz="2800" dirty="0"/>
              <a:t>3-time warning system</a:t>
            </a:r>
          </a:p>
          <a:p>
            <a:r>
              <a:rPr sz="2800" dirty="0"/>
              <a:t>Host notification</a:t>
            </a:r>
          </a:p>
          <a:p>
            <a:r>
              <a:rPr sz="2800" dirty="0"/>
              <a:t>Analytics dashboard</a:t>
            </a:r>
          </a:p>
        </p:txBody>
      </p:sp>
      <p:sp>
        <p:nvSpPr>
          <p:cNvPr id="7" name="Slide Number Placeholder 6"/>
          <p:cNvSpPr>
            <a:spLocks noGrp="1"/>
          </p:cNvSpPr>
          <p:nvPr>
            <p:ph type="sldNum" sz="quarter" idx="12"/>
          </p:nvPr>
        </p:nvSpPr>
        <p:spPr/>
        <p:txBody>
          <a:bodyPr/>
          <a:lstStyle/>
          <a:p>
            <a:fld id="{C1FF6DA9-008F-8B48-92A6-B652298478BF}" type="slidenum">
              <a:rPr lang="en-US" smtClean="0"/>
              <a:t>8</a:t>
            </a:fld>
            <a:endParaRPr lang="en-US"/>
          </a:p>
        </p:txBody>
      </p:sp>
      <p:sp>
        <p:nvSpPr>
          <p:cNvPr id="4" name="Footer Placeholder 3">
            <a:extLst>
              <a:ext uri="{FF2B5EF4-FFF2-40B4-BE49-F238E27FC236}">
                <a16:creationId xmlns:a16="http://schemas.microsoft.com/office/drawing/2014/main" id="{CE92580A-CDC6-5ED9-6A13-6D5C988BA898}"/>
              </a:ext>
            </a:extLst>
          </p:cNvPr>
          <p:cNvSpPr>
            <a:spLocks noGrp="1"/>
          </p:cNvSpPr>
          <p:nvPr>
            <p:ph type="ftr" sz="quarter" idx="11"/>
          </p:nvPr>
        </p:nvSpPr>
        <p:spPr/>
        <p:txBody>
          <a:bodyPr/>
          <a:lstStyle/>
          <a:p>
            <a:r>
              <a:rPr lang="en-US"/>
              <a:t>Continuous attention monitoring in vc using media pipe and CNN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000" b="1" i="1" u="sng" dirty="0"/>
              <a:t>Expected Outcome</a:t>
            </a:r>
          </a:p>
        </p:txBody>
      </p:sp>
      <p:sp>
        <p:nvSpPr>
          <p:cNvPr id="3" name="Content Placeholder 2"/>
          <p:cNvSpPr>
            <a:spLocks noGrp="1"/>
          </p:cNvSpPr>
          <p:nvPr>
            <p:ph idx="1"/>
          </p:nvPr>
        </p:nvSpPr>
        <p:spPr>
          <a:xfrm>
            <a:off x="457200" y="1008667"/>
            <a:ext cx="8229600" cy="5277751"/>
          </a:xfrm>
        </p:spPr>
        <p:txBody>
          <a:bodyPr>
            <a:normAutofit/>
          </a:bodyPr>
          <a:lstStyle/>
          <a:p>
            <a:pPr marL="0" indent="0">
              <a:buNone/>
            </a:pPr>
            <a:endParaRPr sz="2800" dirty="0"/>
          </a:p>
          <a:p>
            <a:r>
              <a:rPr sz="2800" dirty="0"/>
              <a:t>Automated monitoring</a:t>
            </a:r>
            <a:endParaRPr lang="en-IN" sz="2800" dirty="0"/>
          </a:p>
          <a:p>
            <a:r>
              <a:rPr lang="en-IN" sz="2800" dirty="0"/>
              <a:t>Attention Score Generation </a:t>
            </a:r>
          </a:p>
          <a:p>
            <a:r>
              <a:rPr lang="en-IN" sz="2800" dirty="0"/>
              <a:t>Better engagement </a:t>
            </a:r>
            <a:endParaRPr sz="2800" dirty="0"/>
          </a:p>
          <a:p>
            <a:r>
              <a:rPr lang="en-IN" sz="2800" dirty="0"/>
              <a:t>Automated alert system </a:t>
            </a:r>
            <a:endParaRPr sz="2800" dirty="0"/>
          </a:p>
        </p:txBody>
      </p:sp>
      <p:sp>
        <p:nvSpPr>
          <p:cNvPr id="7" name="Slide Number Placeholder 6"/>
          <p:cNvSpPr>
            <a:spLocks noGrp="1"/>
          </p:cNvSpPr>
          <p:nvPr>
            <p:ph type="sldNum" sz="quarter" idx="12"/>
          </p:nvPr>
        </p:nvSpPr>
        <p:spPr/>
        <p:txBody>
          <a:bodyPr/>
          <a:lstStyle/>
          <a:p>
            <a:fld id="{C1FF6DA9-008F-8B48-92A6-B652298478BF}" type="slidenum">
              <a:rPr lang="en-US" smtClean="0"/>
              <a:t>9</a:t>
            </a:fld>
            <a:endParaRPr lang="en-US"/>
          </a:p>
        </p:txBody>
      </p:sp>
      <p:sp>
        <p:nvSpPr>
          <p:cNvPr id="4" name="Footer Placeholder 3">
            <a:extLst>
              <a:ext uri="{FF2B5EF4-FFF2-40B4-BE49-F238E27FC236}">
                <a16:creationId xmlns:a16="http://schemas.microsoft.com/office/drawing/2014/main" id="{2A9D752D-57F1-C555-39E7-0333635EDF13}"/>
              </a:ext>
            </a:extLst>
          </p:cNvPr>
          <p:cNvSpPr>
            <a:spLocks noGrp="1"/>
          </p:cNvSpPr>
          <p:nvPr>
            <p:ph type="ftr" sz="quarter" idx="11"/>
          </p:nvPr>
        </p:nvSpPr>
        <p:spPr/>
        <p:txBody>
          <a:bodyPr/>
          <a:lstStyle/>
          <a:p>
            <a:r>
              <a:rPr lang="en-US"/>
              <a:t>Continuous attention monitoring in vc using media pipe and CNN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000" b="1" i="1" u="sng" dirty="0"/>
              <a:t>Applications</a:t>
            </a:r>
          </a:p>
        </p:txBody>
      </p:sp>
      <p:sp>
        <p:nvSpPr>
          <p:cNvPr id="3" name="Content Placeholder 2"/>
          <p:cNvSpPr>
            <a:spLocks noGrp="1"/>
          </p:cNvSpPr>
          <p:nvPr>
            <p:ph idx="1"/>
          </p:nvPr>
        </p:nvSpPr>
        <p:spPr/>
        <p:txBody>
          <a:bodyPr>
            <a:normAutofit/>
          </a:bodyPr>
          <a:lstStyle/>
          <a:p>
            <a:r>
              <a:rPr sz="2800" dirty="0"/>
              <a:t>Online classes</a:t>
            </a:r>
          </a:p>
          <a:p>
            <a:r>
              <a:rPr sz="2800" dirty="0"/>
              <a:t>Video conferencing</a:t>
            </a:r>
          </a:p>
          <a:p>
            <a:r>
              <a:rPr sz="2800" dirty="0"/>
              <a:t>Employee monitoring</a:t>
            </a:r>
          </a:p>
          <a:p>
            <a:r>
              <a:rPr sz="2800" dirty="0"/>
              <a:t>Smart classrooms</a:t>
            </a:r>
          </a:p>
        </p:txBody>
      </p:sp>
      <p:sp>
        <p:nvSpPr>
          <p:cNvPr id="7" name="Slide Number Placeholder 6"/>
          <p:cNvSpPr>
            <a:spLocks noGrp="1"/>
          </p:cNvSpPr>
          <p:nvPr>
            <p:ph type="sldNum" sz="quarter" idx="12"/>
          </p:nvPr>
        </p:nvSpPr>
        <p:spPr/>
        <p:txBody>
          <a:bodyPr/>
          <a:lstStyle/>
          <a:p>
            <a:fld id="{C1FF6DA9-008F-8B48-92A6-B652298478BF}" type="slidenum">
              <a:rPr lang="en-US" smtClean="0"/>
              <a:t>10</a:t>
            </a:fld>
            <a:endParaRPr lang="en-US"/>
          </a:p>
        </p:txBody>
      </p:sp>
      <p:sp>
        <p:nvSpPr>
          <p:cNvPr id="4" name="Footer Placeholder 3">
            <a:extLst>
              <a:ext uri="{FF2B5EF4-FFF2-40B4-BE49-F238E27FC236}">
                <a16:creationId xmlns:a16="http://schemas.microsoft.com/office/drawing/2014/main" id="{8E4C2AA0-2318-3D2B-A1C6-D5157BA64345}"/>
              </a:ext>
            </a:extLst>
          </p:cNvPr>
          <p:cNvSpPr>
            <a:spLocks noGrp="1"/>
          </p:cNvSpPr>
          <p:nvPr>
            <p:ph type="ftr" sz="quarter" idx="11"/>
          </p:nvPr>
        </p:nvSpPr>
        <p:spPr/>
        <p:txBody>
          <a:bodyPr/>
          <a:lstStyle/>
          <a:p>
            <a:r>
              <a:rPr lang="en-US"/>
              <a:t>Continuous attention monitoring in vc using media pipe and CNN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Continuous attention monitoring in vc using media pipe and CNN</a:t>
            </a:r>
          </a:p>
        </p:txBody>
      </p:sp>
      <p:sp>
        <p:nvSpPr>
          <p:cNvPr id="3" name="Slide Number Placeholder 2"/>
          <p:cNvSpPr>
            <a:spLocks noGrp="1"/>
          </p:cNvSpPr>
          <p:nvPr>
            <p:ph type="sldNum" sz="quarter" idx="12"/>
          </p:nvPr>
        </p:nvSpPr>
        <p:spPr/>
        <p:txBody>
          <a:bodyPr/>
          <a:lstStyle/>
          <a:p>
            <a:fld id="{C1FF6DA9-008F-8B48-92A6-B652298478BF}" type="slidenum">
              <a:rPr lang="en-US" smtClean="0"/>
              <a:t>11</a:t>
            </a:fld>
            <a:endParaRPr lang="en-US"/>
          </a:p>
        </p:txBody>
      </p:sp>
      <p:pic>
        <p:nvPicPr>
          <p:cNvPr id="5" name="Picture 4">
            <a:extLst>
              <a:ext uri="{FF2B5EF4-FFF2-40B4-BE49-F238E27FC236}">
                <a16:creationId xmlns:a16="http://schemas.microsoft.com/office/drawing/2014/main" id="{D8A7AF2E-F060-030F-02BC-37B2BC89681C}"/>
              </a:ext>
            </a:extLst>
          </p:cNvPr>
          <p:cNvPicPr>
            <a:picLocks noChangeAspect="1"/>
          </p:cNvPicPr>
          <p:nvPr/>
        </p:nvPicPr>
        <p:blipFill>
          <a:blip r:embed="rId2"/>
          <a:stretch>
            <a:fillRect/>
          </a:stretch>
        </p:blipFill>
        <p:spPr>
          <a:xfrm>
            <a:off x="2289718" y="65988"/>
            <a:ext cx="4564563" cy="679201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000" b="1" i="1" u="sng" dirty="0"/>
              <a:t>Advantages &amp; Limitations</a:t>
            </a:r>
          </a:p>
        </p:txBody>
      </p:sp>
      <p:sp>
        <p:nvSpPr>
          <p:cNvPr id="3" name="Content Placeholder 2"/>
          <p:cNvSpPr>
            <a:spLocks noGrp="1"/>
          </p:cNvSpPr>
          <p:nvPr>
            <p:ph idx="1"/>
          </p:nvPr>
        </p:nvSpPr>
        <p:spPr/>
        <p:txBody>
          <a:bodyPr>
            <a:normAutofit fontScale="92500" lnSpcReduction="20000"/>
          </a:bodyPr>
          <a:lstStyle/>
          <a:p>
            <a:r>
              <a:rPr u="sng" dirty="0"/>
              <a:t>Advantages:</a:t>
            </a:r>
          </a:p>
          <a:p>
            <a:r>
              <a:rPr sz="2800" dirty="0"/>
              <a:t>Real-time </a:t>
            </a:r>
            <a:r>
              <a:rPr lang="en-IN" sz="2800" dirty="0"/>
              <a:t>Monitoring </a:t>
            </a:r>
            <a:endParaRPr sz="2800" dirty="0"/>
          </a:p>
          <a:p>
            <a:r>
              <a:rPr sz="2800" dirty="0"/>
              <a:t>Automation</a:t>
            </a:r>
            <a:endParaRPr lang="en-IN" sz="2800" dirty="0"/>
          </a:p>
          <a:p>
            <a:r>
              <a:rPr lang="en-IN" sz="2800" dirty="0"/>
              <a:t>High Accuracy (</a:t>
            </a:r>
            <a:r>
              <a:rPr lang="en-IN" sz="2800" dirty="0" err="1"/>
              <a:t>Mediapipe</a:t>
            </a:r>
            <a:r>
              <a:rPr lang="en-IN" sz="2800" dirty="0"/>
              <a:t> + CNN)</a:t>
            </a:r>
          </a:p>
          <a:p>
            <a:r>
              <a:rPr lang="en-IN" sz="2800" dirty="0"/>
              <a:t>Detects Multiple </a:t>
            </a:r>
            <a:r>
              <a:rPr lang="en-IN" sz="2800" dirty="0" err="1"/>
              <a:t>Behaviors</a:t>
            </a:r>
            <a:endParaRPr lang="en-IN" sz="2800" dirty="0"/>
          </a:p>
          <a:p>
            <a:r>
              <a:rPr lang="en-IN" sz="2800" dirty="0"/>
              <a:t>Continuous Monitoring over time</a:t>
            </a:r>
          </a:p>
          <a:p>
            <a:endParaRPr sz="2800" dirty="0"/>
          </a:p>
          <a:p>
            <a:endParaRPr dirty="0"/>
          </a:p>
          <a:p>
            <a:r>
              <a:rPr u="sng" dirty="0"/>
              <a:t>Limitations:</a:t>
            </a:r>
            <a:endParaRPr sz="2800" dirty="0"/>
          </a:p>
          <a:p>
            <a:r>
              <a:rPr sz="2800" dirty="0"/>
              <a:t>Lighting dependency</a:t>
            </a:r>
          </a:p>
        </p:txBody>
      </p:sp>
      <p:sp>
        <p:nvSpPr>
          <p:cNvPr id="7" name="Slide Number Placeholder 6"/>
          <p:cNvSpPr>
            <a:spLocks noGrp="1"/>
          </p:cNvSpPr>
          <p:nvPr>
            <p:ph type="sldNum" sz="quarter" idx="12"/>
          </p:nvPr>
        </p:nvSpPr>
        <p:spPr/>
        <p:txBody>
          <a:bodyPr/>
          <a:lstStyle/>
          <a:p>
            <a:fld id="{C1FF6DA9-008F-8B48-92A6-B652298478BF}" type="slidenum">
              <a:rPr lang="en-US" smtClean="0"/>
              <a:t>12</a:t>
            </a:fld>
            <a:endParaRPr lang="en-US"/>
          </a:p>
        </p:txBody>
      </p:sp>
      <p:sp>
        <p:nvSpPr>
          <p:cNvPr id="4" name="Footer Placeholder 3">
            <a:extLst>
              <a:ext uri="{FF2B5EF4-FFF2-40B4-BE49-F238E27FC236}">
                <a16:creationId xmlns:a16="http://schemas.microsoft.com/office/drawing/2014/main" id="{C5E4A140-3310-29E3-DF34-B39620022089}"/>
              </a:ext>
            </a:extLst>
          </p:cNvPr>
          <p:cNvSpPr>
            <a:spLocks noGrp="1"/>
          </p:cNvSpPr>
          <p:nvPr>
            <p:ph type="ftr" sz="quarter" idx="11"/>
          </p:nvPr>
        </p:nvSpPr>
        <p:spPr/>
        <p:txBody>
          <a:bodyPr/>
          <a:lstStyle/>
          <a:p>
            <a:r>
              <a:rPr lang="en-US"/>
              <a:t>Continuous attention monitoring in vc using media pipe and CNN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9D5BF-1A49-A502-85EF-31AEB832DEDC}"/>
              </a:ext>
            </a:extLst>
          </p:cNvPr>
          <p:cNvSpPr>
            <a:spLocks noGrp="1"/>
          </p:cNvSpPr>
          <p:nvPr>
            <p:ph type="ctrTitle"/>
          </p:nvPr>
        </p:nvSpPr>
        <p:spPr/>
        <p:txBody>
          <a:bodyPr>
            <a:normAutofit/>
          </a:bodyPr>
          <a:lstStyle/>
          <a:p>
            <a:r>
              <a:rPr lang="en-IN" sz="5400" b="1" dirty="0"/>
              <a:t>Thank You </a:t>
            </a:r>
          </a:p>
        </p:txBody>
      </p:sp>
      <p:sp>
        <p:nvSpPr>
          <p:cNvPr id="4" name="Footer Placeholder 3">
            <a:extLst>
              <a:ext uri="{FF2B5EF4-FFF2-40B4-BE49-F238E27FC236}">
                <a16:creationId xmlns:a16="http://schemas.microsoft.com/office/drawing/2014/main" id="{A74FBDCF-B079-BF8C-55D0-090C3875ED06}"/>
              </a:ext>
            </a:extLst>
          </p:cNvPr>
          <p:cNvSpPr>
            <a:spLocks noGrp="1"/>
          </p:cNvSpPr>
          <p:nvPr>
            <p:ph type="ftr" sz="quarter" idx="11"/>
          </p:nvPr>
        </p:nvSpPr>
        <p:spPr/>
        <p:txBody>
          <a:bodyPr/>
          <a:lstStyle/>
          <a:p>
            <a:r>
              <a:rPr lang="en-US"/>
              <a:t>Continuous attention monitoring in vc using media pipe and CNN</a:t>
            </a:r>
          </a:p>
        </p:txBody>
      </p:sp>
      <p:sp>
        <p:nvSpPr>
          <p:cNvPr id="5" name="Slide Number Placeholder 4">
            <a:extLst>
              <a:ext uri="{FF2B5EF4-FFF2-40B4-BE49-F238E27FC236}">
                <a16:creationId xmlns:a16="http://schemas.microsoft.com/office/drawing/2014/main" id="{EB8F1E1E-1396-919A-266A-E221F0F87D1B}"/>
              </a:ext>
            </a:extLst>
          </p:cNvPr>
          <p:cNvSpPr>
            <a:spLocks noGrp="1"/>
          </p:cNvSpPr>
          <p:nvPr>
            <p:ph type="sldNum" sz="quarter" idx="12"/>
          </p:nvPr>
        </p:nvSpPr>
        <p:spPr/>
        <p:txBody>
          <a:bodyPr/>
          <a:lstStyle/>
          <a:p>
            <a:fld id="{C1FF6DA9-008F-8B48-92A6-B652298478BF}" type="slidenum">
              <a:rPr lang="en-US" smtClean="0"/>
              <a:t>13</a:t>
            </a:fld>
            <a:endParaRPr lang="en-US"/>
          </a:p>
        </p:txBody>
      </p:sp>
    </p:spTree>
    <p:extLst>
      <p:ext uri="{BB962C8B-B14F-4D97-AF65-F5344CB8AC3E}">
        <p14:creationId xmlns:p14="http://schemas.microsoft.com/office/powerpoint/2010/main" val="7040027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139</TotalTime>
  <Words>727</Words>
  <Application>Microsoft Office PowerPoint</Application>
  <PresentationFormat>On-screen Show (4:3)</PresentationFormat>
  <Paragraphs>112</Paragraphs>
  <Slides>13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Oswald</vt:lpstr>
      <vt:lpstr>Times New Roman</vt:lpstr>
      <vt:lpstr>Office Theme</vt:lpstr>
      <vt:lpstr>PowerPoint Presentation</vt:lpstr>
      <vt:lpstr>Problem Statement</vt:lpstr>
      <vt:lpstr>Objective</vt:lpstr>
      <vt:lpstr>Technologies Used</vt:lpstr>
      <vt:lpstr>Working Methodology</vt:lpstr>
      <vt:lpstr>Research Paper 1 Review</vt:lpstr>
      <vt:lpstr>Research Paper 2 Review </vt:lpstr>
      <vt:lpstr>Features</vt:lpstr>
      <vt:lpstr>Expected Outcome</vt:lpstr>
      <vt:lpstr>Applications</vt:lpstr>
      <vt:lpstr>PowerPoint Presentation</vt:lpstr>
      <vt:lpstr>Advantages &amp; Limitations</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siddh</dc:creator>
  <dc:description>generated using python-pptx</dc:description>
  <cp:lastModifiedBy>siddhibabar244@gmail.com</cp:lastModifiedBy>
  <cp:revision>14</cp:revision>
  <dcterms:created xsi:type="dcterms:W3CDTF">2013-01-27T09:14:00Z</dcterms:created>
  <dcterms:modified xsi:type="dcterms:W3CDTF">2026-07-31T05:52:18Z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1033-12.1.0.27458</vt:lpwstr>
  </property>
  <property fmtid="{D5CDD505-2E9C-101B-9397-08002B2CF9AE}" pid="3" name="ICV">
    <vt:lpwstr>9A1F2BBAAD544B8E8973ACE473D61F22_12</vt:lpwstr>
  </property>
</Properties>
</file>